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aalalabas Wide" charset="1" panose="00000000000000000000"/>
      <p:regular r:id="rId18"/>
    </p:embeddedFont>
    <p:embeddedFont>
      <p:font typeface="Hero Bold" charset="1" panose="00000500000000000000"/>
      <p:regular r:id="rId19"/>
    </p:embeddedFont>
    <p:embeddedFont>
      <p:font typeface="Hero" charset="1" panose="00000500000000000000"/>
      <p:regular r:id="rId20"/>
    </p:embeddedFont>
    <p:embeddedFont>
      <p:font typeface="Noto Sans" charset="1" panose="020B0502040504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21867" y="2870444"/>
            <a:ext cx="14444265" cy="227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>
                <a:solidFill>
                  <a:srgbClr val="000000"/>
                </a:solidFill>
                <a:latin typeface="Paalalabas Wide"/>
                <a:ea typeface="Paalalabas Wide"/>
                <a:cs typeface="Paalalabas Wide"/>
                <a:sym typeface="Paalalabas Wide"/>
              </a:rPr>
              <a:t>C</a:t>
            </a:r>
            <a:r>
              <a:rPr lang="en-US" sz="8000">
                <a:solidFill>
                  <a:srgbClr val="000000"/>
                </a:solidFill>
                <a:latin typeface="Paalalabas Wide"/>
                <a:ea typeface="Paalalabas Wide"/>
                <a:cs typeface="Paalalabas Wide"/>
                <a:sym typeface="Paalalabas Wide"/>
              </a:rPr>
              <a:t>olonoscopy Polyp Segmentation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12890" y="6086720"/>
            <a:ext cx="6862220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Group 47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Members: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Do Hong Chung - 22BA13055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Nguyen Trong Minh Duc - 22BA13082</a:t>
            </a:r>
          </a:p>
        </p:txBody>
      </p:sp>
      <p:sp>
        <p:nvSpPr>
          <p:cNvPr name="AutoShape 4" id="4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2581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9191625"/>
            <a:ext cx="33933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Computer vision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2581C4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187357" y="2244725"/>
          <a:ext cx="8702761" cy="6153150"/>
        </p:xfrm>
        <a:graphic>
          <a:graphicData uri="http://schemas.openxmlformats.org/drawingml/2006/table">
            <a:tbl>
              <a:tblPr/>
              <a:tblGrid>
                <a:gridCol w="3954908"/>
                <a:gridCol w="4747854"/>
              </a:tblGrid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ro"/>
                          <a:ea typeface="Hero"/>
                          <a:cs typeface="Hero"/>
                          <a:sym typeface="Hero"/>
                        </a:rPr>
                        <a:t>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ro"/>
                          <a:ea typeface="Hero"/>
                          <a:cs typeface="Hero"/>
                          <a:sym typeface="Hero"/>
                        </a:rPr>
                        <a:t>Context and Motivation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ro"/>
                          <a:ea typeface="Hero"/>
                          <a:cs typeface="Hero"/>
                          <a:sym typeface="Hero"/>
                        </a:rPr>
                        <a:t>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ro"/>
                          <a:ea typeface="Hero"/>
                          <a:cs typeface="Hero"/>
                          <a:sym typeface="Hero"/>
                        </a:rPr>
                        <a:t>Objectives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ro"/>
                          <a:ea typeface="Hero"/>
                          <a:cs typeface="Hero"/>
                          <a:sym typeface="Hero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ro"/>
                          <a:ea typeface="Hero"/>
                          <a:cs typeface="Hero"/>
                          <a:sym typeface="Hero"/>
                        </a:rPr>
                        <a:t>Product Overview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ro"/>
                          <a:ea typeface="Hero"/>
                          <a:cs typeface="Hero"/>
                          <a:sym typeface="Hero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ro"/>
                          <a:ea typeface="Hero"/>
                          <a:cs typeface="Hero"/>
                          <a:sym typeface="Hero"/>
                        </a:rPr>
                        <a:t>AI Methodology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ro"/>
                          <a:ea typeface="Hero"/>
                          <a:cs typeface="Hero"/>
                          <a:sym typeface="Hero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ro"/>
                          <a:ea typeface="Hero"/>
                          <a:cs typeface="Hero"/>
                          <a:sym typeface="Hero"/>
                        </a:rPr>
                        <a:t>Evaluation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ro"/>
                          <a:ea typeface="Hero"/>
                          <a:cs typeface="Hero"/>
                          <a:sym typeface="Hero"/>
                        </a:rPr>
                        <a:t>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ero"/>
                          <a:ea typeface="Hero"/>
                          <a:cs typeface="Hero"/>
                          <a:sym typeface="Hero"/>
                        </a:rPr>
                        <a:t>Conclusion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921867" y="1085850"/>
            <a:ext cx="14444265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>
                <a:solidFill>
                  <a:srgbClr val="000000"/>
                </a:solidFill>
                <a:latin typeface="Paalalabas Wide"/>
                <a:ea typeface="Paalalabas Wide"/>
                <a:cs typeface="Paalalabas Wide"/>
                <a:sym typeface="Paalalabas Wide"/>
              </a:rPr>
              <a:t>Contents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191625"/>
            <a:ext cx="33933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Computer vision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2581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98087" y="477837"/>
            <a:ext cx="13306684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>
                <a:solidFill>
                  <a:srgbClr val="000000"/>
                </a:solidFill>
                <a:latin typeface="Paalalabas Wide"/>
                <a:ea typeface="Paalalabas Wide"/>
                <a:cs typeface="Paalalabas Wide"/>
                <a:sym typeface="Paalalabas Wide"/>
              </a:rPr>
              <a:t>1 Context and Motivation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191625"/>
            <a:ext cx="33933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Computer vision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785349"/>
            <a:ext cx="16230600" cy="479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Context: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Colorectal cancer is one of the most common causes of death.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It begins with polyps (small clumps of cells on the colon lining). 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They are benign initially, but over time they become cancer.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We must detect them early.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Challenge: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Detection still depends on endoscopy and visual inspection.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Polyps are difficult to see and the image quality is not always good.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527596" y="6540254"/>
            <a:ext cx="2731704" cy="2718046"/>
          </a:xfrm>
          <a:custGeom>
            <a:avLst/>
            <a:gdLst/>
            <a:ahLst/>
            <a:cxnLst/>
            <a:rect r="r" b="b" t="t" l="l"/>
            <a:pathLst>
              <a:path h="2718046" w="2731704">
                <a:moveTo>
                  <a:pt x="0" y="0"/>
                </a:moveTo>
                <a:lnTo>
                  <a:pt x="2731704" y="0"/>
                </a:lnTo>
                <a:lnTo>
                  <a:pt x="2731704" y="2718046"/>
                </a:lnTo>
                <a:lnTo>
                  <a:pt x="0" y="27180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2581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98087" y="477837"/>
            <a:ext cx="13306684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>
                <a:solidFill>
                  <a:srgbClr val="000000"/>
                </a:solidFill>
                <a:latin typeface="Paalalabas Wide"/>
                <a:ea typeface="Paalalabas Wide"/>
                <a:cs typeface="Paalalabas Wide"/>
                <a:sym typeface="Paalalabas Wide"/>
              </a:rPr>
              <a:t>2 Objectives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191625"/>
            <a:ext cx="33933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Computer vision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52265"/>
            <a:ext cx="16375856" cy="425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Goal: 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Develop a reliable Polyp Segmentation and Risk Assessm</a:t>
            </a: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en</a:t>
            </a: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t System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System Capabilities: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Segment polyps from raw endoscopic images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A</a:t>
            </a: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ssess whether polyps are dangerous or not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O</a:t>
            </a: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perates under many image conditions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Easy-to-used for everyone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904771" y="5907964"/>
            <a:ext cx="3354529" cy="3350336"/>
          </a:xfrm>
          <a:custGeom>
            <a:avLst/>
            <a:gdLst/>
            <a:ahLst/>
            <a:cxnLst/>
            <a:rect r="r" b="b" t="t" l="l"/>
            <a:pathLst>
              <a:path h="3350336" w="3354529">
                <a:moveTo>
                  <a:pt x="0" y="0"/>
                </a:moveTo>
                <a:lnTo>
                  <a:pt x="3354529" y="0"/>
                </a:lnTo>
                <a:lnTo>
                  <a:pt x="3354529" y="3350336"/>
                </a:lnTo>
                <a:lnTo>
                  <a:pt x="0" y="3350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2581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2739962"/>
            <a:ext cx="8952612" cy="5035844"/>
          </a:xfrm>
          <a:custGeom>
            <a:avLst/>
            <a:gdLst/>
            <a:ahLst/>
            <a:cxnLst/>
            <a:rect r="r" b="b" t="t" l="l"/>
            <a:pathLst>
              <a:path h="5035844" w="8952612">
                <a:moveTo>
                  <a:pt x="0" y="0"/>
                </a:moveTo>
                <a:lnTo>
                  <a:pt x="8952612" y="0"/>
                </a:lnTo>
                <a:lnTo>
                  <a:pt x="8952612" y="5035844"/>
                </a:lnTo>
                <a:lnTo>
                  <a:pt x="0" y="5035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35388" y="2739962"/>
            <a:ext cx="8952612" cy="5035844"/>
          </a:xfrm>
          <a:custGeom>
            <a:avLst/>
            <a:gdLst/>
            <a:ahLst/>
            <a:cxnLst/>
            <a:rect r="r" b="b" t="t" l="l"/>
            <a:pathLst>
              <a:path h="5035844" w="8952612">
                <a:moveTo>
                  <a:pt x="0" y="0"/>
                </a:moveTo>
                <a:lnTo>
                  <a:pt x="8952612" y="0"/>
                </a:lnTo>
                <a:lnTo>
                  <a:pt x="8952612" y="5035844"/>
                </a:lnTo>
                <a:lnTo>
                  <a:pt x="0" y="50358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8087" y="477837"/>
            <a:ext cx="13306684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>
                <a:solidFill>
                  <a:srgbClr val="000000"/>
                </a:solidFill>
                <a:latin typeface="Paalalabas Wide"/>
                <a:ea typeface="Paalalabas Wide"/>
                <a:cs typeface="Paalalabas Wide"/>
                <a:sym typeface="Paalalabas Wide"/>
              </a:rPr>
              <a:t>3 Product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191625"/>
            <a:ext cx="33933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Computer vision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92569" y="8024521"/>
            <a:ext cx="95028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Polyp Segmentation and Risk Assessment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76306" y="2069226"/>
            <a:ext cx="95028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Green: Still safe | Red: Dangerous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2581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4703579" y="3984625"/>
            <a:ext cx="8880842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>
                <a:solidFill>
                  <a:srgbClr val="000000"/>
                </a:solidFill>
                <a:latin typeface="Paalalabas Wide"/>
                <a:ea typeface="Paalalabas Wide"/>
                <a:cs typeface="Paalalabas Wide"/>
                <a:sym typeface="Paalalabas Wide"/>
              </a:rPr>
              <a:t>4 AI Methodology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191625"/>
            <a:ext cx="33933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Computer vision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92569" y="5076825"/>
            <a:ext cx="95028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(System’s brain)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2581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636713"/>
            <a:ext cx="8115300" cy="6136569"/>
          </a:xfrm>
          <a:custGeom>
            <a:avLst/>
            <a:gdLst/>
            <a:ahLst/>
            <a:cxnLst/>
            <a:rect r="r" b="b" t="t" l="l"/>
            <a:pathLst>
              <a:path h="6136569" w="8115300">
                <a:moveTo>
                  <a:pt x="0" y="0"/>
                </a:moveTo>
                <a:lnTo>
                  <a:pt x="8115300" y="0"/>
                </a:lnTo>
                <a:lnTo>
                  <a:pt x="8115300" y="6136569"/>
                </a:lnTo>
                <a:lnTo>
                  <a:pt x="0" y="61365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8087" y="477837"/>
            <a:ext cx="13306684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>
                <a:solidFill>
                  <a:srgbClr val="000000"/>
                </a:solidFill>
                <a:latin typeface="Paalalabas Wide"/>
                <a:ea typeface="Paalalabas Wide"/>
                <a:cs typeface="Paalalabas Wide"/>
                <a:sym typeface="Paalalabas Wide"/>
              </a:rPr>
              <a:t>4.1 Dataset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191625"/>
            <a:ext cx="33933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Computer vision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3444" y="1723103"/>
            <a:ext cx="8260556" cy="700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Source</a:t>
            </a: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: BKAI-IGH NeoPolyp https://www.kaggle.com/competitions/bkai-igh-neopolyp/data</a:t>
            </a:r>
          </a:p>
          <a:p>
            <a:pPr algn="l">
              <a:lnSpc>
                <a:spcPts val="3500"/>
              </a:lnSpc>
            </a:pP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Polyps’ color: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Red: malignant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Green: benign</a:t>
            </a:r>
          </a:p>
          <a:p>
            <a:pPr algn="l">
              <a:lnSpc>
                <a:spcPts val="3500"/>
              </a:lnSpc>
            </a:pP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Test set has no ground truth to make evaluations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Make our own test set by split the 2 train sets in an 8:2 ratio. 8 for train, 2 for test</a:t>
            </a:r>
          </a:p>
          <a:p>
            <a:pPr algn="l">
              <a:lnSpc>
                <a:spcPts val="3500"/>
              </a:lnSpc>
            </a:pP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Model choice: UNet++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Ability to capture detailed edge regions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Optimal processing speed for applications</a:t>
            </a:r>
          </a:p>
          <a:p>
            <a:pPr algn="l">
              <a:lnSpc>
                <a:spcPts val="35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2581C4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3" id="3"/>
          <p:cNvGraphicFramePr/>
          <p:nvPr/>
        </p:nvGraphicFramePr>
        <p:xfrm>
          <a:off x="2636867" y="2020169"/>
          <a:ext cx="11315700" cy="2514600"/>
        </p:xfrm>
        <a:graphic>
          <a:graphicData uri="http://schemas.openxmlformats.org/presentationml/2006/ole">
            <p:oleObj imgW="13576300" imgH="4775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98087" y="477837"/>
            <a:ext cx="13306684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>
                <a:solidFill>
                  <a:srgbClr val="000000"/>
                </a:solidFill>
                <a:latin typeface="Paalalabas Wide"/>
                <a:ea typeface="Paalalabas Wide"/>
                <a:cs typeface="Paalalabas Wide"/>
                <a:sym typeface="Paalalabas Wide"/>
              </a:rPr>
              <a:t>4.2 model selection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191625"/>
            <a:ext cx="33933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Computer vision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305037"/>
            <a:ext cx="162306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We chose the UNet++ [5] model to balance high accuracy with the ability to run smoothly on a website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2581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392737" y="1636713"/>
            <a:ext cx="9895263" cy="4467353"/>
          </a:xfrm>
          <a:custGeom>
            <a:avLst/>
            <a:gdLst/>
            <a:ahLst/>
            <a:cxnLst/>
            <a:rect r="r" b="b" t="t" l="l"/>
            <a:pathLst>
              <a:path h="4467353" w="9895263">
                <a:moveTo>
                  <a:pt x="0" y="0"/>
                </a:moveTo>
                <a:lnTo>
                  <a:pt x="9895263" y="0"/>
                </a:lnTo>
                <a:lnTo>
                  <a:pt x="9895263" y="4467352"/>
                </a:lnTo>
                <a:lnTo>
                  <a:pt x="0" y="4467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8087" y="477837"/>
            <a:ext cx="13306684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>
                <a:solidFill>
                  <a:srgbClr val="000000"/>
                </a:solidFill>
                <a:latin typeface="Paalalabas Wide"/>
                <a:ea typeface="Paalalabas Wide"/>
                <a:cs typeface="Paalalabas Wide"/>
                <a:sym typeface="Paalalabas Wide"/>
              </a:rPr>
              <a:t>4.2 system pipeline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191625"/>
            <a:ext cx="33933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Computer vision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9394" y="1579563"/>
            <a:ext cx="7993343" cy="656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Input: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Raw endoscopic image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Resize + Normalize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Ensure all images go through the system meet the same standard conditions.</a:t>
            </a:r>
          </a:p>
          <a:p>
            <a:pPr algn="l">
              <a:lnSpc>
                <a:spcPts val="3500"/>
              </a:lnSpc>
            </a:pP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AI model: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Detect and segment boundaries of polyps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Assigns a color overlay to the original image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Red if the polyp occupies more than 4% of the frame area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Green otherwise</a:t>
            </a:r>
          </a:p>
          <a:p>
            <a:pPr algn="l">
              <a:lnSpc>
                <a:spcPts val="3500"/>
              </a:lnSpc>
            </a:pP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Output:</a:t>
            </a: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 The same input image but with a diagnostic overlay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92737" y="6286150"/>
            <a:ext cx="8866563" cy="218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Important note: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The camera always zoom in - out in an endoscopy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This system only acts as an attention filter to identify where the polyp is.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The final diagnosis still depends on the doctor.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2581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842023" y="1636713"/>
            <a:ext cx="7417277" cy="7288728"/>
          </a:xfrm>
          <a:custGeom>
            <a:avLst/>
            <a:gdLst/>
            <a:ahLst/>
            <a:cxnLst/>
            <a:rect r="r" b="b" t="t" l="l"/>
            <a:pathLst>
              <a:path h="7288728" w="7417277">
                <a:moveTo>
                  <a:pt x="0" y="0"/>
                </a:moveTo>
                <a:lnTo>
                  <a:pt x="7417277" y="0"/>
                </a:lnTo>
                <a:lnTo>
                  <a:pt x="7417277" y="7288728"/>
                </a:lnTo>
                <a:lnTo>
                  <a:pt x="0" y="72887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8087" y="477837"/>
            <a:ext cx="13306684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>
                <a:solidFill>
                  <a:srgbClr val="000000"/>
                </a:solidFill>
                <a:latin typeface="Paalalabas Wide"/>
                <a:ea typeface="Paalalabas Wide"/>
                <a:cs typeface="Paalalabas Wide"/>
                <a:sym typeface="Paalalabas Wide"/>
              </a:rPr>
              <a:t>5 Evaluation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191625"/>
            <a:ext cx="33933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Computer vision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5345" y="3064927"/>
            <a:ext cx="7993343" cy="393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Quantitative evaluation: </a:t>
            </a: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All metrics are good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Dice (0.9175): Overall prediction quality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IoU (0.8497): Polyp shape matching 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Precision (0.9417): Reliability of alerts 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Recall (0.8982): Detection completeness</a:t>
            </a:r>
          </a:p>
          <a:p>
            <a:pPr algn="l">
              <a:lnSpc>
                <a:spcPts val="3500"/>
              </a:lnSpc>
            </a:pP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Qualitative evaluation: 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T</a:t>
            </a: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he predictions closely match the actuals on three examples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2581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723103"/>
            <a:ext cx="16230600" cy="481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Our Polyp Segmentation and Risk Assessment System works effectively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High scores in evaluation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In experiment, it performs stably and accurately with un-trained data in original test set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This system will be a helpful assistant for doctors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It’s f</a:t>
            </a: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riendly for everyone</a:t>
            </a:r>
          </a:p>
          <a:p>
            <a:pPr algn="l">
              <a:lnSpc>
                <a:spcPts val="3500"/>
              </a:lnSpc>
            </a:pP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Future Work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Improve the model</a:t>
            </a:r>
          </a:p>
          <a:p>
            <a:pPr algn="l" marL="1619258" indent="-404815" lvl="3">
              <a:lnSpc>
                <a:spcPts val="3500"/>
              </a:lnSpc>
              <a:buFont typeface="Arial"/>
              <a:buChar char="￭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Let the AI consider other factors such as blood vessels on polyp’s surface.</a:t>
            </a:r>
          </a:p>
          <a:p>
            <a:pPr algn="l" marL="1619258" indent="-404815" lvl="3">
              <a:lnSpc>
                <a:spcPts val="3500"/>
              </a:lnSpc>
              <a:buFont typeface="Arial"/>
              <a:buChar char="￭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Ai can better understand whether the polyp is dangerous or not</a:t>
            </a:r>
          </a:p>
          <a:p>
            <a:pPr algn="l" marL="1079505" indent="-359835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System can work with live video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696595" y="5639080"/>
            <a:ext cx="3562705" cy="3591135"/>
          </a:xfrm>
          <a:custGeom>
            <a:avLst/>
            <a:gdLst/>
            <a:ahLst/>
            <a:cxnLst/>
            <a:rect r="r" b="b" t="t" l="l"/>
            <a:pathLst>
              <a:path h="3591135" w="3562705">
                <a:moveTo>
                  <a:pt x="0" y="0"/>
                </a:moveTo>
                <a:lnTo>
                  <a:pt x="3562705" y="0"/>
                </a:lnTo>
                <a:lnTo>
                  <a:pt x="3562705" y="3591134"/>
                </a:lnTo>
                <a:lnTo>
                  <a:pt x="0" y="35911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8087" y="477837"/>
            <a:ext cx="13306684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>
                <a:solidFill>
                  <a:srgbClr val="000000"/>
                </a:solidFill>
                <a:latin typeface="Paalalabas Wide"/>
                <a:ea typeface="Paalalabas Wide"/>
                <a:cs typeface="Paalalabas Wide"/>
                <a:sym typeface="Paalalabas Wide"/>
              </a:rPr>
              <a:t>6 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191625"/>
            <a:ext cx="33933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Computer vision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21867" y="3775075"/>
            <a:ext cx="14444265" cy="282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sz="9999">
                <a:solidFill>
                  <a:srgbClr val="000000"/>
                </a:solidFill>
                <a:latin typeface="Paalalabas Wide"/>
                <a:ea typeface="Paalalabas Wide"/>
                <a:cs typeface="Paalalabas Wide"/>
                <a:sym typeface="Paalalabas Wide"/>
              </a:rPr>
              <a:t>THANKS FOR YOUR ATTENTION</a:t>
            </a:r>
          </a:p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2581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9191625"/>
            <a:ext cx="33933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Computer vision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DAHCX-DQ9xE</dc:identifier>
  <dcterms:modified xsi:type="dcterms:W3CDTF">2011-08-01T06:04:30Z</dcterms:modified>
  <cp:revision>1</cp:revision>
  <dc:title>CV</dc:title>
</cp:coreProperties>
</file>